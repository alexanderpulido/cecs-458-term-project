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1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9048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8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023360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4" name="Shape 2"/>
          <p:cNvSpPr/>
          <p:nvPr/>
        </p:nvSpPr>
        <p:spPr>
          <a:xfrm>
            <a:off x="4023360" y="0"/>
            <a:ext cx="91440" cy="5143500"/>
          </a:xfrm>
          <a:prstGeom prst="rect">
            <a:avLst/>
          </a:prstGeom>
          <a:solidFill>
            <a:srgbClr val="E6B800"/>
          </a:solidFill>
          <a:ln/>
        </p:spPr>
      </p:sp>
      <p:sp>
        <p:nvSpPr>
          <p:cNvPr id="5" name="Shape 3"/>
          <p:cNvSpPr/>
          <p:nvPr/>
        </p:nvSpPr>
        <p:spPr>
          <a:xfrm>
            <a:off x="4114800" y="0"/>
            <a:ext cx="5029200" cy="5143500"/>
          </a:xfrm>
          <a:prstGeom prst="rect">
            <a:avLst/>
          </a:prstGeom>
          <a:solidFill>
            <a:srgbClr val="F5EBD8"/>
          </a:solidFill>
          <a:ln/>
        </p:spPr>
      </p:sp>
      <p:sp>
        <p:nvSpPr>
          <p:cNvPr id="6" name="Text 4"/>
          <p:cNvSpPr/>
          <p:nvPr/>
        </p:nvSpPr>
        <p:spPr>
          <a:xfrm>
            <a:off x="4206240" y="3657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🥞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760720" y="3657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🍳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7315200" y="3657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☕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206240" y="27432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🥓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5760720" y="27432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🍔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7315200" y="27432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🥤</a:t>
            </a:r>
            <a:endParaRPr lang="en-US" sz="5200" dirty="0"/>
          </a:p>
        </p:txBody>
      </p:sp>
      <p:sp>
        <p:nvSpPr>
          <p:cNvPr id="12" name="Shape 10"/>
          <p:cNvSpPr/>
          <p:nvPr/>
        </p:nvSpPr>
        <p:spPr>
          <a:xfrm>
            <a:off x="4114800" y="0"/>
            <a:ext cx="5029200" cy="5143500"/>
          </a:xfrm>
          <a:prstGeom prst="rect">
            <a:avLst/>
          </a:prstGeom>
          <a:solidFill>
            <a:srgbClr val="F5EBD8">
              <a:alpha val="8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50292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i="1" dirty="0">
                <a:solidFill>
                  <a:srgbClr val="E6B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DENNY'S</a:t>
            </a:r>
            <a:endParaRPr lang="en-US" sz="3800" dirty="0"/>
          </a:p>
        </p:txBody>
      </p:sp>
      <p:sp>
        <p:nvSpPr>
          <p:cNvPr id="14" name="Shape 12"/>
          <p:cNvSpPr/>
          <p:nvPr/>
        </p:nvSpPr>
        <p:spPr>
          <a:xfrm>
            <a:off x="274320" y="1207008"/>
            <a:ext cx="3200400" cy="45720"/>
          </a:xfrm>
          <a:prstGeom prst="rect">
            <a:avLst/>
          </a:prstGeom>
          <a:solidFill>
            <a:srgbClr val="E6B800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1325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Dining Assistant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274320" y="192024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C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AI-powered menu guidance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C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every online customer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2788920"/>
            <a:ext cx="3200400" cy="36576"/>
          </a:xfrm>
          <a:prstGeom prst="rect">
            <a:avLst/>
          </a:prstGeom>
          <a:solidFill>
            <a:srgbClr val="AA8844">
              <a:alpha val="6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2926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3  |  CECS 458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4320" y="32461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B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Akira Doi  ·  Huy Duong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0B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Gerardo Camacho  ·  Alex Pulido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4320" y="47548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8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8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B300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E6B800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20040" y="576072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D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online customers keep ordering the same thing?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207008"/>
            <a:ext cx="2697480" cy="35204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207008"/>
            <a:ext cx="2697480" cy="91440"/>
          </a:xfrm>
          <a:prstGeom prst="rect">
            <a:avLst/>
          </a:prstGeom>
          <a:solidFill>
            <a:srgbClr val="B30000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37160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😕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11480" y="208483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3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Staff Guidance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8056" y="2542032"/>
            <a:ext cx="244144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ordering online, there is no waiter to answer questions or suggest dishes. Customers are on their own.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72968" y="1207008"/>
            <a:ext cx="2697480" cy="35204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72968" y="1207008"/>
            <a:ext cx="2697480" cy="91440"/>
          </a:xfrm>
          <a:prstGeom prst="rect">
            <a:avLst/>
          </a:prstGeom>
          <a:solidFill>
            <a:srgbClr val="B3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3172968" y="137160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🔁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264408" y="208483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3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Stuck in a Routine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00984" y="2542032"/>
            <a:ext cx="244144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default to familiar items or the cheapest coupon option — rarely exploring new dishes.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25896" y="1207008"/>
            <a:ext cx="2697480" cy="35204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25896" y="1207008"/>
            <a:ext cx="2697480" cy="91440"/>
          </a:xfrm>
          <a:prstGeom prst="rect">
            <a:avLst/>
          </a:prstGeom>
          <a:solidFill>
            <a:srgbClr val="B3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6025896" y="137160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📉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117336" y="208483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3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Consequences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153912" y="2542032"/>
            <a:ext cx="244144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menu exploration leads to lower revenue per visit and, over time, reduced customer loyalty.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EDE8E0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4818888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restaurant apps — Denny's, McDonald's, KFC — offer only images, coupons, and basic keyword search. No interactive AI guidance exists.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8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B300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E6B800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Solution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20040" y="576072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D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Denny's website prototype with two AI-powered features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170432"/>
            <a:ext cx="2743200" cy="36576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5544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🍳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274320" y="26517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6B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Denny's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E6B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Prototype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74320" y="34290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C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CSS · JavaScript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C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API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" y="41148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A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categories · 100+ items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8A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backend server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46120" y="1207008"/>
            <a:ext cx="5577840" cy="171907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207008"/>
            <a:ext cx="82296" cy="1719072"/>
          </a:xfrm>
          <a:prstGeom prst="rect">
            <a:avLst/>
          </a:prstGeom>
          <a:solidFill>
            <a:srgbClr val="B3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0" y="1316736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3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💬  AI Chatbot — Denny Bot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74720" y="1728216"/>
            <a:ext cx="52120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conversational assistant. Ask anything: "What's the cheapest filling meal?" or "Is the Lumberjack Slam spicy?" — real answers from the actual menu.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46120" y="3081528"/>
            <a:ext cx="5577840" cy="171907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46120" y="3081528"/>
            <a:ext cx="82296" cy="1719072"/>
          </a:xfrm>
          <a:prstGeom prst="rect">
            <a:avLst/>
          </a:prstGeom>
          <a:solidFill>
            <a:srgbClr val="B3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3474720" y="3191256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3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🔍  AI-Powered Search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474720" y="3602736"/>
            <a:ext cx="52120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search bar. Type "low calorie breakfast" or "something sweet under $8" — no exact item names needed.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46120" y="4846320"/>
            <a:ext cx="5577840" cy="182880"/>
          </a:xfrm>
          <a:prstGeom prst="rect">
            <a:avLst/>
          </a:prstGeom>
          <a:solidFill>
            <a:srgbClr val="E6B800"/>
          </a:solidFill>
          <a:ln/>
        </p:spPr>
      </p:sp>
      <p:sp>
        <p:nvSpPr>
          <p:cNvPr id="21" name="Text 19"/>
          <p:cNvSpPr/>
          <p:nvPr/>
        </p:nvSpPr>
        <p:spPr>
          <a:xfrm>
            <a:off x="3246120" y="4846320"/>
            <a:ext cx="5577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</a:rPr>
              <a:t>Single HTML file  ·  17 menu categories  ·  100+ real items  ·  No backend required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8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B300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E6B800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Technology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20040" y="576072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D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2.5 Flash + Client-Side RAG with Long-Context Prompting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170432"/>
            <a:ext cx="3931920" cy="36118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170432"/>
            <a:ext cx="3931920" cy="438912"/>
          </a:xfrm>
          <a:prstGeom prst="rect">
            <a:avLst/>
          </a:prstGeom>
          <a:solidFill>
            <a:srgbClr val="B30000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" y="120700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🤖  Google Gemini 2.5 Flash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02336" y="1737360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3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 (LLM) by Google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02336" y="2231136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3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via Google AI Studio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02336" y="2724912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3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— suitable for real-time chat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02336" y="3218688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3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context window — holds full menu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02336" y="3712464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3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Pre-trained: no additional training needed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02336" y="4206240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3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supplied at inference via system prompt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434840" y="1170432"/>
            <a:ext cx="4434840" cy="36118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434840" y="1170432"/>
            <a:ext cx="4434840" cy="43891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4544568" y="12070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⚙️  Client-Side RAG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44568" y="17007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— no vector database needed.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0" y="2176272"/>
            <a:ext cx="1298448" cy="1078992"/>
          </a:xfrm>
          <a:prstGeom prst="rect">
            <a:avLst/>
          </a:prstGeom>
          <a:solidFill>
            <a:srgbClr val="EDE8E0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0" y="2212848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3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Data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0" y="2505456"/>
            <a:ext cx="12984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real items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in JS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870448" y="2468880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30000"/>
                </a:solidFill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007608" y="2176272"/>
            <a:ext cx="1298448" cy="1078992"/>
          </a:xfrm>
          <a:prstGeom prst="rect">
            <a:avLst/>
          </a:prstGeom>
          <a:solidFill>
            <a:srgbClr val="EDE8E0"/>
          </a:solidFill>
          <a:ln/>
        </p:spPr>
      </p:sp>
      <p:sp>
        <p:nvSpPr>
          <p:cNvPr id="25" name="Text 23"/>
          <p:cNvSpPr/>
          <p:nvPr/>
        </p:nvSpPr>
        <p:spPr>
          <a:xfrm>
            <a:off x="6007608" y="2212848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3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007608" y="2505456"/>
            <a:ext cx="12984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format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tokens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306056" y="2468880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30000"/>
                </a:solidFill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443216" y="2176272"/>
            <a:ext cx="1298448" cy="1078992"/>
          </a:xfrm>
          <a:prstGeom prst="rect">
            <a:avLst/>
          </a:prstGeom>
          <a:solidFill>
            <a:srgbClr val="EDE8E0"/>
          </a:solidFill>
          <a:ln/>
        </p:spPr>
      </p:sp>
      <p:sp>
        <p:nvSpPr>
          <p:cNvPr id="29" name="Text 27"/>
          <p:cNvSpPr/>
          <p:nvPr/>
        </p:nvSpPr>
        <p:spPr>
          <a:xfrm>
            <a:off x="7443216" y="2212848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3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443216" y="2505456"/>
            <a:ext cx="12984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reply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prepared menu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0" y="3401568"/>
            <a:ext cx="1298448" cy="126187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0" y="3438144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8C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572000" y="3694176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B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0.7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4572000" y="409651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tone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007608" y="3401568"/>
            <a:ext cx="1298448" cy="126187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6" name="Text 34"/>
          <p:cNvSpPr/>
          <p:nvPr/>
        </p:nvSpPr>
        <p:spPr>
          <a:xfrm>
            <a:off x="6007608" y="3438144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8C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maxOutputTokens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007608" y="3694176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B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800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6007608" y="409651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cut-off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443216" y="3401568"/>
            <a:ext cx="1298448" cy="126187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40" name="Text 38"/>
          <p:cNvSpPr/>
          <p:nvPr/>
        </p:nvSpPr>
        <p:spPr>
          <a:xfrm>
            <a:off x="7443216" y="3438144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8C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window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443216" y="3694176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B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turns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7443216" y="409651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memory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8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B300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E6B800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20040" y="576072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D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only — single HTML file, no backend server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170432"/>
            <a:ext cx="1371600" cy="347472"/>
          </a:xfrm>
          <a:prstGeom prst="rect">
            <a:avLst/>
          </a:prstGeom>
          <a:solidFill>
            <a:srgbClr val="B30000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17043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737360" y="1170432"/>
            <a:ext cx="1874520" cy="347472"/>
          </a:xfrm>
          <a:prstGeom prst="rect">
            <a:avLst/>
          </a:prstGeom>
          <a:solidFill>
            <a:srgbClr val="B30000"/>
          </a:solidFill>
          <a:ln/>
        </p:spPr>
      </p:sp>
      <p:sp>
        <p:nvSpPr>
          <p:cNvPr id="10" name="Text 8"/>
          <p:cNvSpPr/>
          <p:nvPr/>
        </p:nvSpPr>
        <p:spPr>
          <a:xfrm>
            <a:off x="1737360" y="117043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703320" y="1170432"/>
            <a:ext cx="4983480" cy="347472"/>
          </a:xfrm>
          <a:prstGeom prst="rect">
            <a:avLst/>
          </a:prstGeom>
          <a:solidFill>
            <a:srgbClr val="B3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3703320" y="1170432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Responsibility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1517904"/>
            <a:ext cx="137160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329184" y="1517904"/>
            <a:ext cx="12893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3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737360" y="1517904"/>
            <a:ext cx="187452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1792224" y="1517904"/>
            <a:ext cx="1792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HTML5 + CSS3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703320" y="1517904"/>
            <a:ext cx="498348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3758184" y="1517904"/>
            <a:ext cx="4901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layout, menu grid, chatbot window, Denny's visual design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176272"/>
            <a:ext cx="1371600" cy="621792"/>
          </a:xfrm>
          <a:prstGeom prst="rect">
            <a:avLst/>
          </a:prstGeom>
          <a:solidFill>
            <a:srgbClr val="EDE8E0"/>
          </a:solidFill>
          <a:ln/>
        </p:spPr>
      </p:sp>
      <p:sp>
        <p:nvSpPr>
          <p:cNvPr id="20" name="Text 18"/>
          <p:cNvSpPr/>
          <p:nvPr/>
        </p:nvSpPr>
        <p:spPr>
          <a:xfrm>
            <a:off x="329184" y="2176272"/>
            <a:ext cx="12893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3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737360" y="2176272"/>
            <a:ext cx="1874520" cy="621792"/>
          </a:xfrm>
          <a:prstGeom prst="rect">
            <a:avLst/>
          </a:prstGeom>
          <a:solidFill>
            <a:srgbClr val="EDE8E0"/>
          </a:solidFill>
          <a:ln/>
        </p:spPr>
      </p:sp>
      <p:sp>
        <p:nvSpPr>
          <p:cNvPr id="22" name="Text 20"/>
          <p:cNvSpPr/>
          <p:nvPr/>
        </p:nvSpPr>
        <p:spPr>
          <a:xfrm>
            <a:off x="1792224" y="2176272"/>
            <a:ext cx="1792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Vanilla JavaScript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703320" y="2176272"/>
            <a:ext cx="4983480" cy="621792"/>
          </a:xfrm>
          <a:prstGeom prst="rect">
            <a:avLst/>
          </a:prstGeom>
          <a:solidFill>
            <a:srgbClr val="EDE8E0"/>
          </a:solidFill>
          <a:ln/>
        </p:spPr>
      </p:sp>
      <p:sp>
        <p:nvSpPr>
          <p:cNvPr id="24" name="Text 22"/>
          <p:cNvSpPr/>
          <p:nvPr/>
        </p:nvSpPr>
        <p:spPr>
          <a:xfrm>
            <a:off x="3758184" y="2176272"/>
            <a:ext cx="4901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rendering, API calls (callGemini), chat history state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2834640"/>
            <a:ext cx="137160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329184" y="2834640"/>
            <a:ext cx="12893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3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737360" y="2834640"/>
            <a:ext cx="187452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1792224" y="2834640"/>
            <a:ext cx="1792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Gemini 2.5 Flash API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703320" y="2834640"/>
            <a:ext cx="498348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3758184" y="2834640"/>
            <a:ext cx="4901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understanding and grounded menu recommendations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3493008"/>
            <a:ext cx="1371600" cy="621792"/>
          </a:xfrm>
          <a:prstGeom prst="rect">
            <a:avLst/>
          </a:prstGeom>
          <a:solidFill>
            <a:srgbClr val="EDE8E0"/>
          </a:solidFill>
          <a:ln/>
        </p:spPr>
      </p:sp>
      <p:sp>
        <p:nvSpPr>
          <p:cNvPr id="32" name="Text 30"/>
          <p:cNvSpPr/>
          <p:nvPr/>
        </p:nvSpPr>
        <p:spPr>
          <a:xfrm>
            <a:off x="329184" y="3493008"/>
            <a:ext cx="12893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3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737360" y="3493008"/>
            <a:ext cx="1874520" cy="621792"/>
          </a:xfrm>
          <a:prstGeom prst="rect">
            <a:avLst/>
          </a:prstGeom>
          <a:solidFill>
            <a:srgbClr val="EDE8E0"/>
          </a:solidFill>
          <a:ln/>
        </p:spPr>
      </p:sp>
      <p:sp>
        <p:nvSpPr>
          <p:cNvPr id="34" name="Text 32"/>
          <p:cNvSpPr/>
          <p:nvPr/>
        </p:nvSpPr>
        <p:spPr>
          <a:xfrm>
            <a:off x="1792224" y="3493008"/>
            <a:ext cx="1792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Inline MENU Object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703320" y="3493008"/>
            <a:ext cx="4983480" cy="621792"/>
          </a:xfrm>
          <a:prstGeom prst="rect">
            <a:avLst/>
          </a:prstGeom>
          <a:solidFill>
            <a:srgbClr val="EDE8E0"/>
          </a:solidFill>
          <a:ln/>
        </p:spPr>
      </p:sp>
      <p:sp>
        <p:nvSpPr>
          <p:cNvPr id="36" name="Text 34"/>
          <p:cNvSpPr/>
          <p:nvPr/>
        </p:nvSpPr>
        <p:spPr>
          <a:xfrm>
            <a:off x="3758184" y="3493008"/>
            <a:ext cx="4901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categories, 100+ items — name, price, calories, description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74320" y="4151376"/>
            <a:ext cx="137160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329184" y="4151376"/>
            <a:ext cx="12893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3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737360" y="4151376"/>
            <a:ext cx="187452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1792224" y="4151376"/>
            <a:ext cx="1792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sessionStorage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703320" y="4151376"/>
            <a:ext cx="498348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3758184" y="4151376"/>
            <a:ext cx="4901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stored in browser session only — cleared on tab close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E6B800"/>
          </a:solidFill>
          <a:ln/>
        </p:spPr>
      </p:sp>
      <p:sp>
        <p:nvSpPr>
          <p:cNvPr id="44" name="Text 42"/>
          <p:cNvSpPr/>
          <p:nvPr/>
        </p:nvSpPr>
        <p:spPr>
          <a:xfrm>
            <a:off x="274320" y="480060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</a:rPr>
              <a:t>Chatbot = Stateful (last 3 turns sent)   |   AI Search = Stateless (no history)   |   Key in sessionStorage only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8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B300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E6B800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System Prompt — RAG-lite in Practice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20040" y="576072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D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Denny's menu embedded in compact key-value format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115568"/>
            <a:ext cx="8595360" cy="3429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4663440"/>
            <a:ext cx="2743200" cy="347472"/>
          </a:xfrm>
          <a:prstGeom prst="rect">
            <a:avLst/>
          </a:prstGeom>
          <a:solidFill>
            <a:srgbClr val="B30000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46634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−69% tokens  —  vs. verbose format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72968" y="4663440"/>
            <a:ext cx="2743200" cy="347472"/>
          </a:xfrm>
          <a:prstGeom prst="rect">
            <a:avLst/>
          </a:prstGeom>
          <a:solidFill>
            <a:srgbClr val="B3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3172968" y="46634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~250 tokens  —  per request (system)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71616" y="4663440"/>
            <a:ext cx="2743200" cy="347472"/>
          </a:xfrm>
          <a:prstGeom prst="rect">
            <a:avLst/>
          </a:prstGeom>
          <a:solidFill>
            <a:srgbClr val="B3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6071616" y="46634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Zero hallucination  —  grounded in real data</a:t>
            </a:r>
            <a:endParaRPr lang="en-US" sz="10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8D1BA2D-5D88-717C-8C81-CA266F7374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427" y="1305525"/>
            <a:ext cx="7869759" cy="24443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8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B300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E6B800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Performance Evaluation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20040" y="576072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D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testing against real customer queries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170432"/>
            <a:ext cx="1188720" cy="329184"/>
          </a:xfrm>
          <a:prstGeom prst="rect">
            <a:avLst/>
          </a:prstGeom>
          <a:solidFill>
            <a:srgbClr val="B30000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17043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508760" y="1170432"/>
            <a:ext cx="2743200" cy="329184"/>
          </a:xfrm>
          <a:prstGeom prst="rect">
            <a:avLst/>
          </a:prstGeom>
          <a:solidFill>
            <a:srgbClr val="B30000"/>
          </a:solidFill>
          <a:ln/>
        </p:spPr>
      </p:sp>
      <p:sp>
        <p:nvSpPr>
          <p:cNvPr id="10" name="Text 8"/>
          <p:cNvSpPr/>
          <p:nvPr/>
        </p:nvSpPr>
        <p:spPr>
          <a:xfrm>
            <a:off x="1508760" y="117043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 Query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97680" y="1170432"/>
            <a:ext cx="4206240" cy="329184"/>
          </a:xfrm>
          <a:prstGeom prst="rect">
            <a:avLst/>
          </a:prstGeom>
          <a:solidFill>
            <a:srgbClr val="B3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4297680" y="1170432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Response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549640" y="1170432"/>
            <a:ext cx="640080" cy="329184"/>
          </a:xfrm>
          <a:prstGeom prst="rect">
            <a:avLst/>
          </a:prstGeom>
          <a:solidFill>
            <a:srgbClr val="B3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8549640" y="117043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1499616"/>
            <a:ext cx="1188720" cy="5394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310896" y="1499616"/>
            <a:ext cx="111556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3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508760" y="1499616"/>
            <a:ext cx="2743200" cy="5394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1545336" y="1499616"/>
            <a:ext cx="267004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"I'm hungry but don't have much money"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297680" y="1499616"/>
            <a:ext cx="4206240" cy="5394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4334256" y="1499616"/>
            <a:ext cx="413308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Value Slam $5.99, 2-Egg Slam $5.99, BLT&amp;E Slamwich $5.99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549640" y="1499616"/>
            <a:ext cx="640080" cy="5394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8586216" y="1499616"/>
            <a:ext cx="56692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74320" y="2075688"/>
            <a:ext cx="1188720" cy="539496"/>
          </a:xfrm>
          <a:prstGeom prst="rect">
            <a:avLst/>
          </a:prstGeom>
          <a:solidFill>
            <a:srgbClr val="EDE8E0"/>
          </a:solidFill>
          <a:ln/>
        </p:spPr>
      </p:sp>
      <p:sp>
        <p:nvSpPr>
          <p:cNvPr id="24" name="Text 22"/>
          <p:cNvSpPr/>
          <p:nvPr/>
        </p:nvSpPr>
        <p:spPr>
          <a:xfrm>
            <a:off x="310896" y="2075688"/>
            <a:ext cx="111556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3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Low-Cal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508760" y="2075688"/>
            <a:ext cx="2743200" cy="539496"/>
          </a:xfrm>
          <a:prstGeom prst="rect">
            <a:avLst/>
          </a:prstGeom>
          <a:solidFill>
            <a:srgbClr val="EDE8E0"/>
          </a:solidFill>
          <a:ln/>
        </p:spPr>
      </p:sp>
      <p:sp>
        <p:nvSpPr>
          <p:cNvPr id="26" name="Text 24"/>
          <p:cNvSpPr/>
          <p:nvPr/>
        </p:nvSpPr>
        <p:spPr>
          <a:xfrm>
            <a:off x="1545336" y="2075688"/>
            <a:ext cx="267004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"Low calorie and cheap"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297680" y="2075688"/>
            <a:ext cx="4206240" cy="539496"/>
          </a:xfrm>
          <a:prstGeom prst="rect">
            <a:avLst/>
          </a:prstGeom>
          <a:solidFill>
            <a:srgbClr val="EDE8E0"/>
          </a:solidFill>
          <a:ln/>
        </p:spPr>
      </p:sp>
      <p:sp>
        <p:nvSpPr>
          <p:cNvPr id="28" name="Text 26"/>
          <p:cNvSpPr/>
          <p:nvPr/>
        </p:nvSpPr>
        <p:spPr>
          <a:xfrm>
            <a:off x="4334256" y="2075688"/>
            <a:ext cx="413308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Slam $11.99 (430–600 cal), Garden Salad $5.99 (150–370 cal)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549640" y="2075688"/>
            <a:ext cx="640080" cy="539496"/>
          </a:xfrm>
          <a:prstGeom prst="rect">
            <a:avLst/>
          </a:prstGeom>
          <a:solidFill>
            <a:srgbClr val="EDE8E0"/>
          </a:solidFill>
          <a:ln/>
        </p:spPr>
      </p:sp>
      <p:sp>
        <p:nvSpPr>
          <p:cNvPr id="30" name="Text 28"/>
          <p:cNvSpPr/>
          <p:nvPr/>
        </p:nvSpPr>
        <p:spPr>
          <a:xfrm>
            <a:off x="8586216" y="2075688"/>
            <a:ext cx="56692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274320" y="2651760"/>
            <a:ext cx="1188720" cy="5394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310896" y="2651760"/>
            <a:ext cx="111556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3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508760" y="2651760"/>
            <a:ext cx="2743200" cy="5394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1545336" y="2651760"/>
            <a:ext cx="267004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"Lumberjack vs All-American Slam?"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297680" y="2651760"/>
            <a:ext cx="4206240" cy="5394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4334256" y="2651760"/>
            <a:ext cx="413308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descriptions from embedded menu — no hallucination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549640" y="2651760"/>
            <a:ext cx="640080" cy="5394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8586216" y="2651760"/>
            <a:ext cx="56692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274320" y="3227832"/>
            <a:ext cx="1188720" cy="539496"/>
          </a:xfrm>
          <a:prstGeom prst="rect">
            <a:avLst/>
          </a:prstGeom>
          <a:solidFill>
            <a:srgbClr val="EDE8E0"/>
          </a:solidFill>
          <a:ln/>
        </p:spPr>
      </p:sp>
      <p:sp>
        <p:nvSpPr>
          <p:cNvPr id="40" name="Text 38"/>
          <p:cNvSpPr/>
          <p:nvPr/>
        </p:nvSpPr>
        <p:spPr>
          <a:xfrm>
            <a:off x="310896" y="3227832"/>
            <a:ext cx="111556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3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508760" y="3227832"/>
            <a:ext cx="2743200" cy="539496"/>
          </a:xfrm>
          <a:prstGeom prst="rect">
            <a:avLst/>
          </a:prstGeom>
          <a:solidFill>
            <a:srgbClr val="EDE8E0"/>
          </a:solidFill>
          <a:ln/>
        </p:spPr>
      </p:sp>
      <p:sp>
        <p:nvSpPr>
          <p:cNvPr id="42" name="Text 40"/>
          <p:cNvSpPr/>
          <p:nvPr/>
        </p:nvSpPr>
        <p:spPr>
          <a:xfrm>
            <a:off x="1545336" y="3227832"/>
            <a:ext cx="267004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do you have for kids?"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297680" y="3227832"/>
            <a:ext cx="4206240" cy="539496"/>
          </a:xfrm>
          <a:prstGeom prst="rect">
            <a:avLst/>
          </a:prstGeom>
          <a:solidFill>
            <a:srgbClr val="EDE8E0"/>
          </a:solidFill>
          <a:ln/>
        </p:spPr>
      </p:sp>
      <p:sp>
        <p:nvSpPr>
          <p:cNvPr id="44" name="Text 42"/>
          <p:cNvSpPr/>
          <p:nvPr/>
        </p:nvSpPr>
        <p:spPr>
          <a:xfrm>
            <a:off x="4334256" y="3227832"/>
            <a:ext cx="413308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Dino Nuggets $5.49, Grilled Cheese $4.99, Mac &amp; Cheese $4.99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8549640" y="3227832"/>
            <a:ext cx="640080" cy="539496"/>
          </a:xfrm>
          <a:prstGeom prst="rect">
            <a:avLst/>
          </a:prstGeom>
          <a:solidFill>
            <a:srgbClr val="EDE8E0"/>
          </a:solidFill>
          <a:ln/>
        </p:spPr>
      </p:sp>
      <p:sp>
        <p:nvSpPr>
          <p:cNvPr id="46" name="Text 44"/>
          <p:cNvSpPr/>
          <p:nvPr/>
        </p:nvSpPr>
        <p:spPr>
          <a:xfrm>
            <a:off x="8586216" y="3227832"/>
            <a:ext cx="56692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274320" y="3803904"/>
            <a:ext cx="1188720" cy="5394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310896" y="3803904"/>
            <a:ext cx="111556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3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Open-ended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1508760" y="3803904"/>
            <a:ext cx="2743200" cy="5394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Text 48"/>
          <p:cNvSpPr/>
          <p:nvPr/>
        </p:nvSpPr>
        <p:spPr>
          <a:xfrm>
            <a:off x="1545336" y="3803904"/>
            <a:ext cx="267004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"Cheap but filling"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297680" y="3803904"/>
            <a:ext cx="4206240" cy="5394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Text 50"/>
          <p:cNvSpPr/>
          <p:nvPr/>
        </p:nvSpPr>
        <p:spPr>
          <a:xfrm>
            <a:off x="4334256" y="3803904"/>
            <a:ext cx="413308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Own Slam $8.99, Lumberjack $14.49 with portion note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8549640" y="3803904"/>
            <a:ext cx="640080" cy="5394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Text 52"/>
          <p:cNvSpPr/>
          <p:nvPr/>
        </p:nvSpPr>
        <p:spPr>
          <a:xfrm>
            <a:off x="8586216" y="3803904"/>
            <a:ext cx="56692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274320" y="4379976"/>
            <a:ext cx="1188720" cy="539496"/>
          </a:xfrm>
          <a:prstGeom prst="rect">
            <a:avLst/>
          </a:prstGeom>
          <a:solidFill>
            <a:srgbClr val="EDE8E0"/>
          </a:solidFill>
          <a:ln/>
        </p:spPr>
      </p:sp>
      <p:sp>
        <p:nvSpPr>
          <p:cNvPr id="56" name="Text 54"/>
          <p:cNvSpPr/>
          <p:nvPr/>
        </p:nvSpPr>
        <p:spPr>
          <a:xfrm>
            <a:off x="310896" y="4379976"/>
            <a:ext cx="111556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3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Dietary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1508760" y="4379976"/>
            <a:ext cx="2743200" cy="539496"/>
          </a:xfrm>
          <a:prstGeom prst="rect">
            <a:avLst/>
          </a:prstGeom>
          <a:solidFill>
            <a:srgbClr val="EDE8E0"/>
          </a:solidFill>
          <a:ln/>
        </p:spPr>
      </p:sp>
      <p:sp>
        <p:nvSpPr>
          <p:cNvPr id="58" name="Text 56"/>
          <p:cNvSpPr/>
          <p:nvPr/>
        </p:nvSpPr>
        <p:spPr>
          <a:xfrm>
            <a:off x="1545336" y="4379976"/>
            <a:ext cx="267004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"Gluten-free options?"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297680" y="4379976"/>
            <a:ext cx="4206240" cy="539496"/>
          </a:xfrm>
          <a:prstGeom prst="rect">
            <a:avLst/>
          </a:prstGeom>
          <a:solidFill>
            <a:srgbClr val="EDE8E0"/>
          </a:solidFill>
          <a:ln/>
        </p:spPr>
      </p:sp>
      <p:sp>
        <p:nvSpPr>
          <p:cNvPr id="60" name="Text 58"/>
          <p:cNvSpPr/>
          <p:nvPr/>
        </p:nvSpPr>
        <p:spPr>
          <a:xfrm>
            <a:off x="4334256" y="4379976"/>
            <a:ext cx="413308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Salads &amp; lighter items; noted menu lacks explicit gluten-free labels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8549640" y="4379976"/>
            <a:ext cx="640080" cy="539496"/>
          </a:xfrm>
          <a:prstGeom prst="rect">
            <a:avLst/>
          </a:prstGeom>
          <a:solidFill>
            <a:srgbClr val="EDE8E0"/>
          </a:solidFill>
          <a:ln/>
        </p:spPr>
      </p:sp>
      <p:sp>
        <p:nvSpPr>
          <p:cNvPr id="62" name="Text 60"/>
          <p:cNvSpPr/>
          <p:nvPr/>
        </p:nvSpPr>
        <p:spPr>
          <a:xfrm>
            <a:off x="8586216" y="4379976"/>
            <a:ext cx="56692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8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B300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E6B800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Strengths &amp; Limitations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20040" y="576072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D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worked well and what we plan to improve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170432"/>
            <a:ext cx="416052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170432"/>
            <a:ext cx="4160520" cy="402336"/>
          </a:xfrm>
          <a:prstGeom prst="rect">
            <a:avLst/>
          </a:prstGeom>
          <a:solidFill>
            <a:srgbClr val="1A5C1A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" y="119786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✅  Strengths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02336" y="1700784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real items recommended — no hallucination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02336" y="231343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memory: follow-up questions work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02336" y="292608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 phrasing accepted in search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02336" y="3538728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faster — stateless, no history sent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02336" y="4151376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69% token reduction via compact prompt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09160" y="1170432"/>
            <a:ext cx="416052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1170432"/>
            <a:ext cx="4160520" cy="402336"/>
          </a:xfrm>
          <a:prstGeom prst="rect">
            <a:avLst/>
          </a:prstGeom>
          <a:solidFill>
            <a:srgbClr val="B3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4818888" y="119786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⚠️  Limitations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54880" y="1700784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3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allergy / ingredient detail per item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2313432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3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hardcoded — not auto-updated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2926080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3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menu sent every request (token cost)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0" y="3538728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3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actual order placement — info only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8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B300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E6B800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Impact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20040" y="576072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D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for Denny's and the restaurant industry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207008"/>
            <a:ext cx="420624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207008"/>
            <a:ext cx="82296" cy="1691640"/>
          </a:xfrm>
          <a:prstGeom prst="rect">
            <a:avLst/>
          </a:prstGeom>
          <a:solidFill>
            <a:srgbClr val="B30000"/>
          </a:solidFill>
          <a:ln/>
        </p:spPr>
      </p:sp>
      <p:sp>
        <p:nvSpPr>
          <p:cNvPr id="9" name="Text 7"/>
          <p:cNvSpPr/>
          <p:nvPr/>
        </p:nvSpPr>
        <p:spPr>
          <a:xfrm>
            <a:off x="438912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🧑‍🍳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51560" y="133502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3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Virtual Waiter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38912" y="182880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"Is this spicy?" in real time — filling the role of in-store staff for digital orders.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36592" y="1207008"/>
            <a:ext cx="420624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36592" y="1207008"/>
            <a:ext cx="82296" cy="1691640"/>
          </a:xfrm>
          <a:prstGeom prst="rect">
            <a:avLst/>
          </a:prstGeom>
          <a:solidFill>
            <a:srgbClr val="B3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4901184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513832" y="133502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3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Higher Revenue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01184" y="182880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who try new items spend more per visit and return more often — building long-term loyalty.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035808"/>
            <a:ext cx="420624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035808"/>
            <a:ext cx="82296" cy="1691640"/>
          </a:xfrm>
          <a:prstGeom prst="rect">
            <a:avLst/>
          </a:prstGeom>
          <a:solidFill>
            <a:srgbClr val="B3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438912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🆕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051560" y="316382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3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First-Time Friendly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38912" y="365760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confusion for customers unfamiliar with Denny's categories like Slams.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36592" y="3035808"/>
            <a:ext cx="420624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36592" y="3035808"/>
            <a:ext cx="82296" cy="1691640"/>
          </a:xfrm>
          <a:prstGeom prst="rect">
            <a:avLst/>
          </a:prstGeom>
          <a:solidFill>
            <a:srgbClr val="B30000"/>
          </a:solidFill>
          <a:ln/>
        </p:spPr>
      </p:sp>
      <p:sp>
        <p:nvSpPr>
          <p:cNvPr id="24" name="Text 22"/>
          <p:cNvSpPr/>
          <p:nvPr/>
        </p:nvSpPr>
        <p:spPr>
          <a:xfrm>
            <a:off x="4901184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🔓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5513832" y="316382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3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Scales to Industry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901184" y="365760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restaurant with structured menu data can deploy this. Single-file HTML — minimal integration effort.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4846320"/>
            <a:ext cx="9144000" cy="301752"/>
          </a:xfrm>
          <a:prstGeom prst="rect">
            <a:avLst/>
          </a:prstGeom>
          <a:solidFill>
            <a:srgbClr val="E6B800"/>
          </a:solidFill>
          <a:ln/>
        </p:spPr>
      </p:sp>
      <p:sp>
        <p:nvSpPr>
          <p:cNvPr id="28" name="Text 26"/>
          <p:cNvSpPr/>
          <p:nvPr/>
        </p:nvSpPr>
        <p:spPr>
          <a:xfrm>
            <a:off x="274320" y="4846320"/>
            <a:ext cx="8595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</a:rPr>
              <a:t>No major fast-casual chain currently offers conversational AI — this is an early-mover opportunity.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8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B300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E6B800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Demo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20040" y="576072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D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Walkthrough — Denny's AI Dining Assistant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97280" y="1170432"/>
            <a:ext cx="6949440" cy="3429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97280" y="1170432"/>
            <a:ext cx="6949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▶  Demo Steps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97280" y="1170432"/>
            <a:ext cx="6949440" cy="438912"/>
          </a:xfrm>
          <a:prstGeom prst="rect">
            <a:avLst/>
          </a:prstGeom>
          <a:solidFill>
            <a:srgbClr val="B30000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1170432"/>
            <a:ext cx="6949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▶  Demo Steps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234440" y="1783080"/>
            <a:ext cx="329184" cy="329184"/>
          </a:xfrm>
          <a:prstGeom prst="rect">
            <a:avLst/>
          </a:prstGeom>
          <a:solidFill>
            <a:srgbClr val="B3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1234440" y="17830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664208" y="1737360"/>
            <a:ext cx="6217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Denny's website — browse 17 menu categories (Slams, Pancakes, Burgers, Desserts…)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234440" y="2286000"/>
            <a:ext cx="329184" cy="329184"/>
          </a:xfrm>
          <a:prstGeom prst="rect">
            <a:avLst/>
          </a:prstGeom>
          <a:solidFill>
            <a:srgbClr val="B3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1234440" y="2286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664208" y="2240280"/>
            <a:ext cx="6217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🔍 search icon → type: "cheap but filling" → show AI results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234440" y="2788920"/>
            <a:ext cx="329184" cy="329184"/>
          </a:xfrm>
          <a:prstGeom prst="rect">
            <a:avLst/>
          </a:prstGeom>
          <a:solidFill>
            <a:srgbClr val="B3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1234440" y="2788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664208" y="2743200"/>
            <a:ext cx="6217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💬 Denny Bot → ask: "What's the difference between the Lumberjack and All-American Slam?"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234440" y="3291840"/>
            <a:ext cx="329184" cy="329184"/>
          </a:xfrm>
          <a:prstGeom prst="rect">
            <a:avLst/>
          </a:prstGeom>
          <a:solidFill>
            <a:srgbClr val="B3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1234440" y="32918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664208" y="3246120"/>
            <a:ext cx="6217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Follow-up: "Which one is lower in calories?" → show multi-turn memory working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234440" y="3794760"/>
            <a:ext cx="329184" cy="329184"/>
          </a:xfrm>
          <a:prstGeom prst="rect">
            <a:avLst/>
          </a:prstGeom>
          <a:solidFill>
            <a:srgbClr val="B30000"/>
          </a:solidFill>
          <a:ln/>
        </p:spPr>
      </p:sp>
      <p:sp>
        <p:nvSpPr>
          <p:cNvPr id="24" name="Text 22"/>
          <p:cNvSpPr/>
          <p:nvPr/>
        </p:nvSpPr>
        <p:spPr>
          <a:xfrm>
            <a:off x="1234440" y="37947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664208" y="3749040"/>
            <a:ext cx="6217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one more: "I want something for kids" → chatbot lists Kids menu with real prices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8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B300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E6B800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20040" y="576072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D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improvements for a production-ready version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207008"/>
            <a:ext cx="4206240" cy="117043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207008"/>
            <a:ext cx="475488" cy="1170432"/>
          </a:xfrm>
          <a:prstGeom prst="rect">
            <a:avLst/>
          </a:prstGeom>
          <a:solidFill>
            <a:srgbClr val="B30000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609344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41248" y="1298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🌿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53312" y="1371600"/>
            <a:ext cx="29992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full allergy &amp; ingredient data per item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36592" y="1207008"/>
            <a:ext cx="4206240" cy="117043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36592" y="1207008"/>
            <a:ext cx="475488" cy="1170432"/>
          </a:xfrm>
          <a:prstGeom prst="rect">
            <a:avLst/>
          </a:prstGeom>
          <a:solidFill>
            <a:srgbClr val="B3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4736592" y="1609344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303520" y="1298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🔗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815584" y="1371600"/>
            <a:ext cx="29992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a live Denny's menu data source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487168"/>
            <a:ext cx="4206240" cy="117043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487168"/>
            <a:ext cx="475488" cy="1170432"/>
          </a:xfrm>
          <a:prstGeom prst="rect">
            <a:avLst/>
          </a:prstGeom>
          <a:solidFill>
            <a:srgbClr val="C47A00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2889504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41248" y="2578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🛒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353312" y="2651760"/>
            <a:ext cx="29992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placement — cart and checkout flow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36592" y="2487168"/>
            <a:ext cx="4206240" cy="117043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36592" y="2487168"/>
            <a:ext cx="475488" cy="1170432"/>
          </a:xfrm>
          <a:prstGeom prst="rect">
            <a:avLst/>
          </a:prstGeom>
          <a:solidFill>
            <a:srgbClr val="C47A00"/>
          </a:solidFill>
          <a:ln/>
        </p:spPr>
      </p:sp>
      <p:sp>
        <p:nvSpPr>
          <p:cNvPr id="24" name="Text 22"/>
          <p:cNvSpPr/>
          <p:nvPr/>
        </p:nvSpPr>
        <p:spPr>
          <a:xfrm>
            <a:off x="4736592" y="2889504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303520" y="2578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🥗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815584" y="2651760"/>
            <a:ext cx="29992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Calorie-aware filtering (e.g. under 600 cal)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3767328"/>
            <a:ext cx="4206240" cy="117043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3767328"/>
            <a:ext cx="475488" cy="1170432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29" name="Text 27"/>
          <p:cNvSpPr/>
          <p:nvPr/>
        </p:nvSpPr>
        <p:spPr>
          <a:xfrm>
            <a:off x="274320" y="4169664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41248" y="3858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353312" y="3931920"/>
            <a:ext cx="29992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vector-search RAG pipeline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36592" y="3767328"/>
            <a:ext cx="4206240" cy="117043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36592" y="3767328"/>
            <a:ext cx="475488" cy="1170432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34" name="Text 32"/>
          <p:cNvSpPr/>
          <p:nvPr/>
        </p:nvSpPr>
        <p:spPr>
          <a:xfrm>
            <a:off x="4736592" y="4169664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303520" y="3858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🎙️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5815584" y="3931920"/>
            <a:ext cx="29992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input via Web Speech API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8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0" y="0"/>
            <a:ext cx="91440" cy="5143500"/>
          </a:xfrm>
          <a:prstGeom prst="rect">
            <a:avLst/>
          </a:prstGeom>
          <a:solidFill>
            <a:srgbClr val="E6B800"/>
          </a:solidFill>
          <a:ln/>
        </p:spPr>
      </p:sp>
      <p:sp>
        <p:nvSpPr>
          <p:cNvPr id="5" name="Shape 3"/>
          <p:cNvSpPr/>
          <p:nvPr/>
        </p:nvSpPr>
        <p:spPr>
          <a:xfrm>
            <a:off x="4206240" y="0"/>
            <a:ext cx="4937760" cy="5143500"/>
          </a:xfrm>
          <a:prstGeom prst="rect">
            <a:avLst/>
          </a:prstGeom>
          <a:solidFill>
            <a:srgbClr val="F5EBD8"/>
          </a:solidFill>
          <a:ln/>
        </p:spPr>
      </p:sp>
      <p:sp>
        <p:nvSpPr>
          <p:cNvPr id="6" name="Text 4"/>
          <p:cNvSpPr/>
          <p:nvPr/>
        </p:nvSpPr>
        <p:spPr>
          <a:xfrm>
            <a:off x="4251960" y="3657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🥞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824728" y="3657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🍔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7397496" y="3657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☕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251960" y="26974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🥓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5824728" y="26974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🍳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7397496" y="26974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🥤</a:t>
            </a:r>
            <a:endParaRPr lang="en-US" sz="5200" dirty="0"/>
          </a:p>
        </p:txBody>
      </p:sp>
      <p:sp>
        <p:nvSpPr>
          <p:cNvPr id="12" name="Shape 10"/>
          <p:cNvSpPr/>
          <p:nvPr/>
        </p:nvSpPr>
        <p:spPr>
          <a:xfrm>
            <a:off x="4206240" y="0"/>
            <a:ext cx="4937760" cy="5143500"/>
          </a:xfrm>
          <a:prstGeom prst="rect">
            <a:avLst/>
          </a:prstGeom>
          <a:solidFill>
            <a:srgbClr val="F5EBD8">
              <a:alpha val="7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502920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i="1" dirty="0">
                <a:solidFill>
                  <a:srgbClr val="E6B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14" name="Shape 12"/>
          <p:cNvSpPr/>
          <p:nvPr/>
        </p:nvSpPr>
        <p:spPr>
          <a:xfrm>
            <a:off x="274320" y="1298448"/>
            <a:ext cx="3474720" cy="45720"/>
          </a:xfrm>
          <a:prstGeom prst="rect">
            <a:avLst/>
          </a:prstGeom>
          <a:solidFill>
            <a:srgbClr val="E6B800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14173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Denny's AI Dining Assistant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74320" y="199339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B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 Chatbot (Denny Bot) — virtual waiter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4320" y="242316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B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 Search — natural language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4320" y="285292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B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Client-Side RAG — grounded in real menu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4320" y="328269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B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Google Gemini 2.5 Flash — free tier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4320" y="371246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B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Single HTML file — no backend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4320" y="4407408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3: Akira Doi  ·  Huy Duong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0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Gerardo Camacho  ·  Alex Pulido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4320" y="48006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7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CECS 458  |  May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</TotalTime>
  <Words>1107</Words>
  <Application>Microsoft Office PowerPoint</Application>
  <PresentationFormat>On-screen Show (16:9)</PresentationFormat>
  <Paragraphs>217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Denny's AI Dining Assistant</dc:title>
  <dc:subject>PptxGenJS Presentation</dc:subject>
  <dc:creator>PptxGenJS</dc:creator>
  <cp:lastModifiedBy>Akira Doi</cp:lastModifiedBy>
  <cp:revision>3</cp:revision>
  <dcterms:created xsi:type="dcterms:W3CDTF">2026-05-11T21:36:40Z</dcterms:created>
  <dcterms:modified xsi:type="dcterms:W3CDTF">2026-05-12T04:53:08Z</dcterms:modified>
</cp:coreProperties>
</file>